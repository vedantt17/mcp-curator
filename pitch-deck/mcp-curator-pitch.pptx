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18181B"/>
                </a:solidFill>
                <a:latin typeface="Georgia"/>
              </a:rPr>
              <a:t>mcp</a:t>
            </a:r>
            <a:r>
              <a:rPr sz="8800" b="1" i="0">
                <a:solidFill>
                  <a:srgbClr val="059669"/>
                </a:solidFill>
                <a:latin typeface="Georgia"/>
              </a:rPr>
              <a:t>-</a:t>
            </a:r>
            <a:r>
              <a:rPr sz="8800" b="1" i="0">
                <a:solidFill>
                  <a:srgbClr val="18181B"/>
                </a:solidFill>
                <a:latin typeface="Georgia"/>
              </a:rPr>
              <a:t>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8181B"/>
                </a:solidFill>
                <a:latin typeface="Helvetica"/>
              </a:rPr>
              <a:t>Turn any OpenAPI spec into a Claude-ready MCP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605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2525B"/>
                </a:solidFill>
                <a:latin typeface="Helvetica"/>
              </a:rPr>
              <a:t>Paste a spec. </a:t>
            </a:r>
            <a:r>
              <a:rPr sz="1800" b="0" i="0">
                <a:solidFill>
                  <a:srgbClr val="18181B"/>
                </a:solidFill>
                <a:latin typeface="Helvetica"/>
              </a:rPr>
              <a:t>Claude curates the endpoints.</a:t>
            </a:r>
            <a:r>
              <a:rPr sz="1800" b="0" i="0">
                <a:solidFill>
                  <a:srgbClr val="52525B"/>
                </a:solidFill>
                <a:latin typeface="Helvetica"/>
              </a:rPr>
              <a:t> Install with </a:t>
            </a:r>
            <a:r>
              <a:rPr sz="1800" b="0" i="0">
                <a:solidFill>
                  <a:srgbClr val="18181B"/>
                </a:solidFill>
                <a:latin typeface="Courier New"/>
              </a:rPr>
              <a:t>npx</a:t>
            </a:r>
            <a:r>
              <a:rPr sz="1800" b="0" i="0">
                <a:solidFill>
                  <a:srgbClr val="52525B"/>
                </a:solidFill>
                <a:latin typeface="Helvetica"/>
              </a:rPr>
              <a:t>. 60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035040"/>
            <a:ext cx="1127729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SF · Claude for Technical Founders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172200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2525B"/>
                </a:solidFill>
                <a:latin typeface="Helvetica"/>
              </a:rPr>
              <a:t>Tanmay  ·  Vedant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8181B"/>
                </a:solidFill>
                <a:latin typeface="Georgia"/>
              </a:rPr>
              <a:t>mcp</a:t>
            </a:r>
            <a:r>
              <a:rPr sz="1400" b="1" i="0">
                <a:solidFill>
                  <a:srgbClr val="059669"/>
                </a:solidFill>
                <a:latin typeface="Georgia"/>
              </a:rPr>
              <a:t>-</a:t>
            </a:r>
            <a:r>
              <a:rPr sz="1400" b="1" i="0">
                <a:solidFill>
                  <a:srgbClr val="18181B"/>
                </a:solidFill>
                <a:latin typeface="Georgia"/>
              </a:rPr>
              <a:t>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B"/>
                </a:solidFill>
                <a:latin typeface="Helvetic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Helvetica"/>
              </a:rP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18181B"/>
                </a:solidFill>
                <a:latin typeface="Georgia"/>
              </a:rPr>
              <a:t>Mechanical OpenAPI → MCP converters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059669"/>
                </a:solidFill>
                <a:latin typeface="Georgia"/>
              </a:rPr>
              <a:t>give you 200 dumb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5486400" cy="2743200"/>
          </a:xfrm>
          <a:prstGeom prst="rect">
            <a:avLst/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  <a:latin typeface="Courier New"/>
              </a:rPr>
              <a:t>openapi-mcp-server  /  Speakeasy  /  Stainless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post_emails  patch_emails_by_id  delete_emails_by_id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post_emails_batch  get_emails_by_id  get_emails_received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post_audiences  get_audiences  delete_audiences_by_id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post_audiences_id_contacts  get_audiences_id_contacts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delete_audiences_id_contacts_by_id  patch_contacts_by_id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post_contacts  get_contacts  delete_contacts_by_id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post_domains  get_domains  delete_domains_by_id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post_domains_by_id_verify  get_domain_records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post_broadcasts  get_broadcasts  get_broadcasts_by_id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post_broadcasts_by_id_send  delete_broadcasts_by_id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Courier New"/>
              </a:rPr>
              <a:t>post_api_keys  get_api_keys  delete_api_keys_by_id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urier New"/>
              </a:rPr>
              <a:t>… (47 more endpoints, each as its own tool)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5333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"/>
              </a:rPr>
              <a:t>The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11880"/>
            <a:ext cx="5333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59669"/>
                </a:solidFill>
                <a:latin typeface="Helvetica"/>
              </a:rPr>
              <a:t>→  </a:t>
            </a:r>
            <a:r>
              <a:rPr sz="1200" b="1" i="0">
                <a:solidFill>
                  <a:srgbClr val="18181B"/>
                </a:solidFill>
                <a:latin typeface="Helvetica"/>
              </a:rPr>
              <a:t>Naming overlap.</a:t>
            </a:r>
            <a:r>
              <a:rPr sz="1200" b="0" i="0">
                <a:solidFill>
                  <a:srgbClr val="52525B"/>
                </a:solidFill>
                <a:latin typeface="Helvetica"/>
              </a:rPr>
              <a:t> update_pet vs update_pet_with_form — same intent, different shape.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333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59669"/>
                </a:solidFill>
                <a:latin typeface="Helvetica"/>
              </a:rPr>
              <a:t>→  </a:t>
            </a:r>
            <a:r>
              <a:rPr sz="1200" b="1" i="0">
                <a:solidFill>
                  <a:srgbClr val="18181B"/>
                </a:solidFill>
                <a:latin typeface="Helvetica"/>
              </a:rPr>
              <a:t>Cryptic descriptions.</a:t>
            </a:r>
            <a:r>
              <a:rPr sz="1200" b="0" i="0">
                <a:solidFill>
                  <a:srgbClr val="52525B"/>
                </a:solidFill>
                <a:latin typeface="Helvetica"/>
              </a:rPr>
              <a:t> OpenAPI specs are written for SDKs, not LLMs.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17720"/>
            <a:ext cx="5333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59669"/>
                </a:solidFill>
                <a:latin typeface="Helvetica"/>
              </a:rPr>
              <a:t>→  </a:t>
            </a:r>
            <a:r>
              <a:rPr sz="1200" b="1" i="0">
                <a:solidFill>
                  <a:srgbClr val="18181B"/>
                </a:solidFill>
                <a:latin typeface="Helvetica"/>
              </a:rPr>
              <a:t>Destructive endpoints exposed.</a:t>
            </a:r>
            <a:r>
              <a:rPr sz="1200" b="0" i="0">
                <a:solidFill>
                  <a:srgbClr val="52525B"/>
                </a:solidFill>
                <a:latin typeface="Helvetica"/>
              </a:rPr>
              <a:t> The model can DELETE prod data on a hallucination.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5333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59669"/>
                </a:solidFill>
                <a:latin typeface="Helvetica"/>
              </a:rPr>
              <a:t>→  </a:t>
            </a:r>
            <a:r>
              <a:rPr sz="1200" b="1" i="0">
                <a:solidFill>
                  <a:srgbClr val="18181B"/>
                </a:solidFill>
                <a:latin typeface="Helvetica"/>
              </a:rPr>
              <a:t>Pagination, headers, $refs.</a:t>
            </a:r>
            <a:r>
              <a:rPr sz="1200" b="0" i="0">
                <a:solidFill>
                  <a:srgbClr val="52525B"/>
                </a:solidFill>
                <a:latin typeface="Helvetica"/>
              </a:rPr>
              <a:t> Implementation details leak into the tool surface.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43600"/>
            <a:ext cx="1127729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Result: the LLM is overwhelmed. Tool calls degrade. The integration looks clever but performs worse than no integration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8181B"/>
                </a:solidFill>
                <a:latin typeface="Georgia"/>
              </a:rPr>
              <a:t>mcp</a:t>
            </a:r>
            <a:r>
              <a:rPr sz="1400" b="1" i="0">
                <a:solidFill>
                  <a:srgbClr val="059669"/>
                </a:solidFill>
                <a:latin typeface="Georgia"/>
              </a:rPr>
              <a:t>-</a:t>
            </a:r>
            <a:r>
              <a:rPr sz="1400" b="1" i="0">
                <a:solidFill>
                  <a:srgbClr val="18181B"/>
                </a:solidFill>
                <a:latin typeface="Georgia"/>
              </a:rPr>
              <a:t>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B"/>
                </a:solidFill>
                <a:latin typeface="Helvetica"/>
              </a:rPr>
              <a:t>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Helvetica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>
                <a:solidFill>
                  <a:srgbClr val="18181B"/>
                </a:solidFill>
                <a:latin typeface="Georgia"/>
              </a:rPr>
              <a:t>We let Claude curate.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Helvetica"/>
              </a:rPr>
              <a:t>≤12 LLM-ready tools. Claude picks them, names them, and writes their descriptions.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2682163" cy="164592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2249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"/>
              </a:rPr>
              <a:t>Picks the useful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Out of 200 endpoints, the ≤12 most LLM-actionable. Read-over-write when both qualify.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2243" y="2697480"/>
            <a:ext cx="2682163" cy="164592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880360"/>
            <a:ext cx="22249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"/>
              </a:rPr>
              <a:t>Drops what's dangerous.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3337560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DELETEs and irreversible POSTs are filtered by default. The model can't wipe prod by accident.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6" y="2697480"/>
            <a:ext cx="2682163" cy="164592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6" y="2880360"/>
            <a:ext cx="22249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"/>
              </a:rPr>
              <a:t>Merges related 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6" y="3337560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GET /pets/by-status + GET /pets/by-tag → one find_pets tool with a flexible input schema.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29" y="2697480"/>
            <a:ext cx="2682163" cy="164592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0929" y="2880360"/>
            <a:ext cx="22249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"/>
              </a:rPr>
              <a:t>Rewrites descriptions for LLMs.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0929" y="3337560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PURPOSE / WHEN to use / WHEN NOT to use. Plus an example invocation per tool.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59669"/>
                </a:solidFill>
                <a:latin typeface="Georgia"/>
              </a:rPr>
              <a:t>Curate, don't translate.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8181B"/>
                </a:solidFill>
                <a:latin typeface="Helvetica"/>
              </a:rPr>
              <a:t>The split is deliberate. </a:t>
            </a:r>
            <a:r>
              <a:rPr sz="1200" b="0" i="0">
                <a:solidFill>
                  <a:srgbClr val="52525B"/>
                </a:solidFill>
                <a:latin typeface="Helvetica"/>
              </a:rPr>
              <a:t>Claude does the judgment work — choosing endpoints, writing descriptions, merging schemas. Codegen does the deterministic work — emitting fetch handlers from the chosen ops. </a:t>
            </a:r>
            <a:r>
              <a:rPr sz="1200" b="0" i="0">
                <a:solidFill>
                  <a:srgbClr val="18181B"/>
                </a:solidFill>
                <a:latin typeface="Helvetica"/>
              </a:rPr>
              <a:t>Hallucination risk is contained to descriptions; the network calls are correct by construction.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8181B"/>
                </a:solidFill>
                <a:latin typeface="Georgia"/>
              </a:rPr>
              <a:t>mcp</a:t>
            </a:r>
            <a:r>
              <a:rPr sz="1400" b="1" i="0">
                <a:solidFill>
                  <a:srgbClr val="059669"/>
                </a:solidFill>
                <a:latin typeface="Georgia"/>
              </a:rPr>
              <a:t>-</a:t>
            </a:r>
            <a:r>
              <a:rPr sz="1400" b="1" i="0">
                <a:solidFill>
                  <a:srgbClr val="18181B"/>
                </a:solidFill>
                <a:latin typeface="Georgia"/>
              </a:rPr>
              <a:t>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B"/>
                </a:solidFill>
                <a:latin typeface="Helvetica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Helvetica"/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18181B"/>
                </a:solidFill>
                <a:latin typeface="Georgia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2525B"/>
                </a:solidFill>
                <a:latin typeface="Helvetica"/>
              </a:rPr>
              <a:t>Two phases: generation (server-side) and install (user's machine).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"/>
              </a:rPr>
              <a:t>1.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0545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(server, ~30s with prompt caching)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"/>
              </a:rPr>
              <a:t>Paste OpenAPI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552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Helvetica"/>
              </a:rPr>
              <a:t>JSON or YAML, URL or inline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09067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292608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999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"/>
              </a:rPr>
              <a:t>Claude curates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552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Helvetica"/>
              </a:rPr>
              <a:t>≤12 tools, descriptions rewritten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309067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92608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99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"/>
              </a:rPr>
              <a:t>Codegen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2552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Helvetica"/>
              </a:rPr>
              <a:t>deterministic fetch handlers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09067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92608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999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"/>
              </a:rPr>
              <a:t>Store + return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552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Helvetica"/>
              </a:rPr>
              <a:t>Upstash, returns nanoid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"/>
              </a:rPr>
              <a:t>2.  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05993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(user's machine, single command)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8056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537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ourier New"/>
              </a:rPr>
              <a:t>npx mcp-from-spec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09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Helvetica"/>
              </a:rPr>
              <a:t>fetch generated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64515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448056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5537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"/>
              </a:rPr>
              <a:t>npm install + tsx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4809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Helvetica"/>
              </a:rPr>
              <a:t>spawns over stdio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64515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48056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45537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"/>
              </a:rPr>
              <a:t>Claude Desktop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4809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Helvetica"/>
              </a:rPr>
              <a:t>tools appear, ready to 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1127729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8181B"/>
                </a:solidFill>
                <a:latin typeface="Helvetica"/>
              </a:rPr>
              <a:t>Stack:  </a:t>
            </a:r>
            <a:r>
              <a:rPr sz="1100" b="0" i="0">
                <a:solidFill>
                  <a:srgbClr val="52525B"/>
                </a:solidFill>
                <a:latin typeface="Helvetica"/>
              </a:rPr>
              <a:t>Next.js 16  ·  Anthropic SDK + prompt caching  ·  Upstash Redis  ·  </a:t>
            </a:r>
            <a:r>
              <a:rPr sz="1100" b="0" i="0">
                <a:solidFill>
                  <a:srgbClr val="18181B"/>
                </a:solidFill>
                <a:latin typeface="Courier New"/>
              </a:rPr>
              <a:t>@modelcontextprotocol/sdk</a:t>
            </a:r>
            <a:r>
              <a:rPr sz="1100" b="0" i="0">
                <a:solidFill>
                  <a:srgbClr val="52525B"/>
                </a:solidFill>
                <a:latin typeface="Helvetica"/>
              </a:rPr>
              <a:t> (stdio)  ·  Vercel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8181B"/>
                </a:solidFill>
                <a:latin typeface="Georgia"/>
              </a:rPr>
              <a:t>mcp</a:t>
            </a:r>
            <a:r>
              <a:rPr sz="1400" b="1" i="0">
                <a:solidFill>
                  <a:srgbClr val="059669"/>
                </a:solidFill>
                <a:latin typeface="Georgia"/>
              </a:rPr>
              <a:t>-</a:t>
            </a:r>
            <a:r>
              <a:rPr sz="1400" b="1" i="0">
                <a:solidFill>
                  <a:srgbClr val="18181B"/>
                </a:solidFill>
                <a:latin typeface="Georgia"/>
              </a:rPr>
              <a:t>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B"/>
                </a:solidFill>
                <a:latin typeface="Helvetica"/>
              </a:rPr>
              <a:t>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Helvetica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18181B"/>
                </a:solidFill>
                <a:latin typeface="Georgia"/>
              </a:rPr>
              <a:t>Three real specs, no prompt tweaks.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2525B"/>
                </a:solidFill>
                <a:latin typeface="Helvetica"/>
              </a:rPr>
              <a:t>Each row: input ops on the left, what Claude actually returned on the right.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11277295" cy="96012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Georgia"/>
              </a:rPr>
              <a:t>Petstore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729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  <a:latin typeface="Helvetica"/>
              </a:rPr>
              <a:t>Swagger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52525B"/>
                </a:solidFill>
                <a:latin typeface="Georgia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46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Helvetica"/>
              </a:rPr>
              <a:t>raw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059669"/>
                </a:solidFill>
                <a:latin typeface="Georgia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46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Helvetica"/>
              </a:rPr>
              <a:t>curated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70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Helvetica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175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  <a:latin typeface="Courier New"/>
              </a:rPr>
              <a:t>list_pets, find_pets, place_order, 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03320"/>
            <a:ext cx="11277295" cy="96012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6791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Georgia"/>
              </a:rPr>
              <a:t>Scalar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702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  <a:latin typeface="Helvetica"/>
              </a:rPr>
              <a:t>OpenAPI 3.1, real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40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52525B"/>
                </a:solidFill>
                <a:latin typeface="Georgia"/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343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Helvetica"/>
              </a:rPr>
              <a:t>raw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40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059669"/>
                </a:solidFill>
                <a:latin typeface="Georgia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343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Helvetica"/>
              </a:rPr>
              <a:t>curated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867911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Helvetica"/>
              </a:rPr>
              <a:t>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114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  <a:latin typeface="Courier New"/>
              </a:rPr>
              <a:t>list_apis, get_api_document, manage_access_group (3 ops merged), 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0600"/>
            <a:ext cx="11277295" cy="96012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651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Georgia"/>
              </a:rPr>
              <a:t>Resend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67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  <a:latin typeface="Helvetica"/>
              </a:rPr>
              <a:t>Email, 83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9377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52525B"/>
                </a:solidFill>
                <a:latin typeface="Georgia"/>
              </a:rPr>
              <a:t>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Helvetica"/>
              </a:rPr>
              <a:t>raw 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59669"/>
                </a:solidFill>
                <a:latin typeface="Helvetica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9377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059669"/>
                </a:solidFill>
                <a:latin typeface="Georgia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Helvetica"/>
              </a:rPr>
              <a:t>curated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9651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Helvetica"/>
              </a:rPr>
              <a:t>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52120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  <a:latin typeface="Courier New"/>
              </a:rPr>
              <a:t>send_email, send_batch_emails, manage_contact (3 ops merged),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8181B"/>
                </a:solidFill>
                <a:latin typeface="Georgia"/>
              </a:rPr>
              <a:t>mcp</a:t>
            </a:r>
            <a:r>
              <a:rPr sz="1400" b="1" i="0">
                <a:solidFill>
                  <a:srgbClr val="059669"/>
                </a:solidFill>
                <a:latin typeface="Georgia"/>
              </a:rPr>
              <a:t>-</a:t>
            </a:r>
            <a:r>
              <a:rPr sz="1400" b="1" i="0">
                <a:solidFill>
                  <a:srgbClr val="18181B"/>
                </a:solidFill>
                <a:latin typeface="Georgia"/>
              </a:rPr>
              <a:t>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274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B"/>
                </a:solidFill>
                <a:latin typeface="Helvetica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Helvetica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>
                <a:solidFill>
                  <a:srgbClr val="18181B"/>
                </a:solidFill>
                <a:latin typeface="Georgia"/>
              </a:rPr>
              <a:t>See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2525B"/>
                </a:solidFill>
                <a:latin typeface="Helvetica"/>
              </a:rPr>
              <a:t>Paste an OpenAPI URL. We'll do the rest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Helvetica"/>
              </a:rPr>
              <a:t>the demo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8181B"/>
                </a:solidFill>
                <a:latin typeface="Courier New"/>
              </a:rPr>
              <a:t>mcp-curator.vercel.app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Paste any spec.  Get a Claude-curated MCP server.  Install in one command.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7432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6695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Helvetica"/>
              </a:rPr>
              <a:t>the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695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Courier New"/>
              </a:rPr>
              <a:t>npx mcp-from-spec &lt;id&gt;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40233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B"/>
                </a:solidFill>
                <a:latin typeface="Helvetica"/>
              </a:rPr>
              <a:t>Drop into Claude Desktop config. Restart. Tools appear. The model can call your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059669"/>
                </a:solidFill>
                <a:latin typeface="Georgia"/>
              </a:rPr>
              <a:t>Every API on the web — Claude-callable in 60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126480"/>
            <a:ext cx="1127729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8181B"/>
                </a:solidFill>
                <a:latin typeface="Courier New"/>
              </a:rPr>
              <a:t>github.com/vedantt17/mcp-curator</a:t>
            </a:r>
            <a:r>
              <a:rPr sz="1100" b="0" i="0">
                <a:solidFill>
                  <a:srgbClr val="52525B"/>
                </a:solidFill>
                <a:latin typeface="Helvetica"/>
              </a:rPr>
              <a:t>        </a:t>
            </a:r>
            <a:r>
              <a:rPr sz="1100" b="0" i="0">
                <a:solidFill>
                  <a:srgbClr val="52525B"/>
                </a:solidFill>
                <a:latin typeface="Helvetica"/>
              </a:rPr>
              <a:t>Tanmay  ·  Vedant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